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 Gajera" userId="1a86971af72e6723" providerId="LiveId" clId="{4D99E4C7-2D1D-42BA-B99D-34D6AD6E888B}"/>
    <pc:docChg chg="modSld">
      <pc:chgData name="Rakshit Gajera" userId="1a86971af72e6723" providerId="LiveId" clId="{4D99E4C7-2D1D-42BA-B99D-34D6AD6E888B}" dt="2026-09-29T17:52:31.757" v="59" actId="1035"/>
      <pc:docMkLst>
        <pc:docMk/>
      </pc:docMkLst>
      <pc:sldChg chg="modSp mod">
        <pc:chgData name="Rakshit Gajera" userId="1a86971af72e6723" providerId="LiveId" clId="{4D99E4C7-2D1D-42BA-B99D-34D6AD6E888B}" dt="2026-09-29T17:50:05.266" v="27" actId="20577"/>
        <pc:sldMkLst>
          <pc:docMk/>
          <pc:sldMk cId="0" sldId="281"/>
        </pc:sldMkLst>
        <pc:spChg chg="mod">
          <ac:chgData name="Rakshit Gajera" userId="1a86971af72e6723" providerId="LiveId" clId="{4D99E4C7-2D1D-42BA-B99D-34D6AD6E888B}" dt="2026-09-29T13:38:01.032" v="0" actId="1036"/>
          <ac:spMkLst>
            <pc:docMk/>
            <pc:sldMk cId="0" sldId="281"/>
            <ac:spMk id="9" creationId="{00000000-0000-0000-0000-000000000000}"/>
          </ac:spMkLst>
        </pc:spChg>
        <pc:spChg chg="mod">
          <ac:chgData name="Rakshit Gajera" userId="1a86971af72e6723" providerId="LiveId" clId="{4D99E4C7-2D1D-42BA-B99D-34D6AD6E888B}" dt="2026-09-29T17:50:05.266" v="27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modSp mod">
        <pc:chgData name="Rakshit Gajera" userId="1a86971af72e6723" providerId="LiveId" clId="{4D99E4C7-2D1D-42BA-B99D-34D6AD6E888B}" dt="2026-09-29T17:52:31.757" v="59" actId="1035"/>
        <pc:sldMkLst>
          <pc:docMk/>
          <pc:sldMk cId="0" sldId="290"/>
        </pc:sldMkLst>
        <pc:spChg chg="mod">
          <ac:chgData name="Rakshit Gajera" userId="1a86971af72e6723" providerId="LiveId" clId="{4D99E4C7-2D1D-42BA-B99D-34D6AD6E888B}" dt="2026-09-29T17:52:31.757" v="59" actId="1035"/>
          <ac:spMkLst>
            <pc:docMk/>
            <pc:sldMk cId="0" sldId="290"/>
            <ac:spMk id="17410" creationId="{00000000-0000-0000-0000-000000000000}"/>
          </ac:spMkLst>
        </pc:spChg>
        <pc:spChg chg="mod">
          <ac:chgData name="Rakshit Gajera" userId="1a86971af72e6723" providerId="LiveId" clId="{4D99E4C7-2D1D-42BA-B99D-34D6AD6E888B}" dt="2026-09-29T17:51:23.596" v="38" actId="20577"/>
          <ac:spMkLst>
            <pc:docMk/>
            <pc:sldMk cId="0" sldId="290"/>
            <ac:spMk id="17412" creationId="{00000000-0000-0000-0000-000000000000}"/>
          </ac:spMkLst>
        </pc:spChg>
      </pc:sldChg>
      <pc:sldChg chg="modSp mod">
        <pc:chgData name="Rakshit Gajera" userId="1a86971af72e6723" providerId="LiveId" clId="{4D99E4C7-2D1D-42BA-B99D-34D6AD6E888B}" dt="2026-09-29T17:49:40.115" v="14" actId="1035"/>
        <pc:sldMkLst>
          <pc:docMk/>
          <pc:sldMk cId="0" sldId="291"/>
        </pc:sldMkLst>
        <pc:spChg chg="mod">
          <ac:chgData name="Rakshit Gajera" userId="1a86971af72e6723" providerId="LiveId" clId="{4D99E4C7-2D1D-42BA-B99D-34D6AD6E888B}" dt="2026-09-29T17:49:40.115" v="14" actId="1035"/>
          <ac:spMkLst>
            <pc:docMk/>
            <pc:sldMk cId="0" sldId="291"/>
            <ac:spMk id="4" creationId="{00000000-0000-0000-0000-000000000000}"/>
          </ac:spMkLst>
        </pc:spChg>
        <pc:spChg chg="mod">
          <ac:chgData name="Rakshit Gajera" userId="1a86971af72e6723" providerId="LiveId" clId="{4D99E4C7-2D1D-42BA-B99D-34D6AD6E888B}" dt="2026-09-29T17:49:23.198" v="6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Mine-checks per year</c:v>
                </c:pt>
              </c:strCache>
            </c:strRef>
          </c:tx>
          <c:spPr>
            <a:solidFill>
              <a:srgbClr val="1F497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9AA3AE"/>
              </a:solidFill>
            </c:spPr>
            <c:extLst>
              <c:ext xmlns:c16="http://schemas.microsoft.com/office/drawing/2014/chart" uri="{C3380CC4-5D6E-409C-BE32-E72D297353CC}">
                <c16:uniqueId val="{00000001-7034-493D-9AE5-A6D162286A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A1F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Site visits today</c:v>
                </c:pt>
                <c:pt idx="1">
                  <c:v>Monthly outside-record checks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4560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034-493D-9AE5-A6D162286A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400">
                <a:solidFill>
                  <a:srgbClr val="1A1F2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2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A1F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dPt>
            <c:idx val="0"/>
            <c:bubble3D val="0"/>
            <c:spPr>
              <a:solidFill>
                <a:srgbClr val="1F497D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620-445F-A9C8-5CCCBEA945D9}"/>
              </c:ext>
            </c:extLst>
          </c:dPt>
          <c:dPt>
            <c:idx val="1"/>
            <c:bubble3D val="0"/>
            <c:spPr>
              <a:solidFill>
                <a:srgbClr val="D5DAE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620-445F-A9C8-5CCCBEA945D9}"/>
              </c:ext>
            </c:extLst>
          </c:dPt>
          <c:cat>
            <c:strRef>
              <c:f>Sheet1!$A$2:$A$3</c:f>
              <c:strCache>
                <c:ptCount val="2"/>
                <c:pt idx="0">
                  <c:v>Outside record exists</c:v>
                </c:pt>
                <c:pt idx="1">
                  <c:v>Only the mine's word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20-445F-A9C8-5CCCBEA945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oalcontroller.gov.in/coal-directory-india" TargetMode="External"/><Relationship Id="rId13" Type="http://schemas.openxmlformats.org/officeDocument/2006/relationships/hyperlink" Target="https://www.pib.gov.in/PressReleasePage.aspx?PRID=2192802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dgms.net/DGMS%20AT%20A%20GLANCE%202023.pdf" TargetMode="External"/><Relationship Id="rId12" Type="http://schemas.openxmlformats.org/officeDocument/2006/relationships/hyperlink" Target="https://parivesh.nic.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gms.net/Sanket%200404_2024.pdf" TargetMode="External"/><Relationship Id="rId11" Type="http://schemas.openxmlformats.org/officeDocument/2006/relationships/hyperlink" Target="https://uttam.coalindia.in/sampling_process.html" TargetMode="External"/><Relationship Id="rId5" Type="http://schemas.openxmlformats.org/officeDocument/2006/relationships/hyperlink" Target="https://www.reporters-collective.in/trc/blinded-by-the-stars-a-govts-rating-scheme-is-helping-coal-miners-pat-their-own-back" TargetMode="External"/><Relationship Id="rId15" Type="http://schemas.openxmlformats.org/officeDocument/2006/relationships/chart" Target="../charts/chart2.xml"/><Relationship Id="rId10" Type="http://schemas.openxmlformats.org/officeDocument/2006/relationships/hyperlink" Target="https://airquality.cpcb.gov.in/ccr/" TargetMode="External"/><Relationship Id="rId4" Type="http://schemas.openxmlformats.org/officeDocument/2006/relationships/hyperlink" Target="https://starrating.coal.gov.in/faq.php" TargetMode="External"/><Relationship Id="rId9" Type="http://schemas.openxmlformats.org/officeDocument/2006/relationships/hyperlink" Target="https://earth-search.aws.element84.com/v1" TargetMode="External"/><Relationship Id="rId14" Type="http://schemas.openxmlformats.org/officeDocument/2006/relationships/hyperlink" Target="https://clip.cmpdi.co.in/ho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11480" y="1188720"/>
            <a:ext cx="5394960" cy="914400"/>
          </a:xfrm>
        </p:spPr>
        <p:txBody>
          <a:bodyPr wrap="square" anchor="t">
            <a:noAutofit/>
          </a:bodyPr>
          <a:lstStyle/>
          <a:p>
            <a:pPr algn="l">
              <a:buNone/>
            </a:pPr>
            <a:r>
              <a:rPr sz="3200" b="1" i="0" u="none" dirty="0">
                <a:solidFill>
                  <a:srgbClr val="1F497D"/>
                </a:solidFill>
                <a:latin typeface="Times New Roman"/>
                <a:ea typeface="Times New Roman"/>
                <a:cs typeface="Times New Roman"/>
              </a:rPr>
              <a:t>Angaar </a:t>
            </a:r>
            <a:r>
              <a:rPr sz="2600" b="1" i="0" u="none" dirty="0">
                <a:solidFill>
                  <a:srgbClr val="1F497D"/>
                </a:solidFill>
                <a:latin typeface="Nirmala UI"/>
                <a:ea typeface="Nirmala UI"/>
                <a:cs typeface="Nirmala UI"/>
              </a:rPr>
              <a:t>(</a:t>
            </a:r>
            <a:r>
              <a:rPr sz="2600" b="1" i="0" u="none" dirty="0" err="1">
                <a:solidFill>
                  <a:srgbClr val="1F497D"/>
                </a:solidFill>
                <a:latin typeface="Nirmala UI"/>
                <a:ea typeface="Nirmala UI"/>
                <a:cs typeface="Nirmala UI"/>
              </a:rPr>
              <a:t>अंगार</a:t>
            </a:r>
            <a:r>
              <a:rPr sz="2600" b="1" i="0" u="none" dirty="0">
                <a:solidFill>
                  <a:srgbClr val="1F497D"/>
                </a:solidFill>
                <a:latin typeface="Nirmala UI"/>
                <a:ea typeface="Nirmala UI"/>
                <a:cs typeface="Nirmala UI"/>
              </a:rPr>
              <a:t>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sz="1500" b="0" i="0" u="none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Coal mine compliance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5257800" cy="402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74320" indent="-274320" algn="l">
              <a:spcAft>
                <a:spcPts val="1400"/>
              </a:spcAft>
              <a:buClr>
                <a:srgbClr val="1A1F2B"/>
              </a:buClr>
              <a:buFont typeface="Arial"/>
              <a:buChar char="•"/>
            </a:pPr>
            <a:r>
              <a:rPr sz="2000" b="1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Problem Statement ID – </a:t>
            </a:r>
            <a:r>
              <a:rPr sz="2000" b="0" i="0" u="none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SIH26024</a:t>
            </a:r>
            <a:endParaRPr lang="en-US" dirty="0"/>
          </a:p>
          <a:p>
            <a:pPr marL="274320" indent="-274320" algn="l">
              <a:spcAft>
                <a:spcPts val="1400"/>
              </a:spcAft>
              <a:buClr>
                <a:srgbClr val="1A1F2B"/>
              </a:buClr>
              <a:buFont typeface="Arial"/>
              <a:buChar char="•"/>
            </a:pPr>
            <a:r>
              <a:rPr sz="2000" b="1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Problem Statement Title- </a:t>
            </a:r>
            <a:r>
              <a:rPr sz="2000" b="0" i="0" u="none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AI-Based Smart Governance and Compliance Monitoring System for Coal Mines</a:t>
            </a:r>
          </a:p>
          <a:p>
            <a:pPr marL="274320" indent="-274320" algn="l">
              <a:spcAft>
                <a:spcPts val="1400"/>
              </a:spcAft>
              <a:buClr>
                <a:srgbClr val="1A1F2B"/>
              </a:buClr>
              <a:buFont typeface="Arial"/>
              <a:buChar char="•"/>
            </a:pPr>
            <a:r>
              <a:rPr sz="2000" b="1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Theme- </a:t>
            </a:r>
            <a:r>
              <a:rPr sz="2000" b="0" i="0" u="none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Smart Automation</a:t>
            </a:r>
          </a:p>
          <a:p>
            <a:pPr marL="274320" indent="-274320" algn="l">
              <a:spcAft>
                <a:spcPts val="1400"/>
              </a:spcAft>
              <a:buClr>
                <a:srgbClr val="1A1F2B"/>
              </a:buClr>
              <a:buFont typeface="Arial"/>
              <a:buChar char="•"/>
            </a:pPr>
            <a:r>
              <a:rPr sz="2000" b="1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PS Category- </a:t>
            </a:r>
            <a:r>
              <a:rPr sz="2000" b="0" i="0" u="none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Software</a:t>
            </a:r>
          </a:p>
          <a:p>
            <a:pPr marL="274320" indent="-274320" algn="l">
              <a:spcAft>
                <a:spcPts val="1400"/>
              </a:spcAft>
              <a:buClr>
                <a:srgbClr val="1A1F2B"/>
              </a:buClr>
              <a:buFont typeface="Arial"/>
              <a:buChar char="•"/>
            </a:pPr>
            <a:r>
              <a:rPr sz="2000" b="1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Team ID- </a:t>
            </a:r>
            <a:r>
              <a:rPr sz="2000" b="0" i="0" u="none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178955</a:t>
            </a:r>
          </a:p>
          <a:p>
            <a:pPr marL="274320" indent="-274320" algn="l">
              <a:spcAft>
                <a:spcPts val="1400"/>
              </a:spcAft>
              <a:buClr>
                <a:srgbClr val="1A1F2B"/>
              </a:buClr>
              <a:buFont typeface="Arial"/>
              <a:buChar char="•"/>
            </a:pPr>
            <a:r>
              <a:rPr sz="2000" b="1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Team Name - </a:t>
            </a:r>
            <a:r>
              <a:rPr sz="2000" b="0" i="0" u="none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Computer Smashers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6264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987552"/>
          </a:xfrm>
        </p:spPr>
        <p:txBody>
          <a:bodyPr wrap="square" anchor="ctr">
            <a:noAutofit/>
          </a:bodyPr>
          <a:lstStyle/>
          <a:p>
            <a:pPr algn="ctr" eaLnBrk="1" hangingPunct="1">
              <a:spcAft>
                <a:spcPts val="0"/>
              </a:spcAft>
            </a:pPr>
            <a:r>
              <a:rPr sz="3600" b="1" i="0" u="none">
                <a:solidFill>
                  <a:srgbClr val="1A1F2B"/>
                </a:solidFill>
                <a:latin typeface="Times New Roman"/>
                <a:ea typeface="Times New Roman"/>
                <a:cs typeface="Times New Roman"/>
              </a:rPr>
              <a:t>Angaar </a:t>
            </a:r>
            <a:r>
              <a:rPr sz="2800" b="1" i="0" u="none">
                <a:solidFill>
                  <a:srgbClr val="1A1F2B"/>
                </a:solidFill>
                <a:latin typeface="Nirmala UI"/>
                <a:ea typeface="Nirmala UI"/>
                <a:cs typeface="Nirmala UI"/>
              </a:rPr>
              <a:t>(अंगार)</a:t>
            </a:r>
          </a:p>
          <a:p>
            <a:pPr algn="ctr"/>
            <a:r>
              <a:rPr sz="1600" b="0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Coal mine compliance, checked against records the mine does not write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Computer Smashers  |  SIH26024  |  Angaar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Computer</a:t>
            </a:r>
            <a:endParaRPr lang="en-IN" dirty="0"/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Smashers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70432"/>
            <a:ext cx="11475720" cy="363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 u="sng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Proposed Solution</a:t>
            </a:r>
            <a:r>
              <a:rPr lang="en-IN" b="1" u="sng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:</a:t>
            </a:r>
            <a:endParaRPr sz="1800" b="1" i="0" u="sng" dirty="0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63" name="Rectangle 15362"/>
          <p:cNvSpPr/>
          <p:nvPr/>
        </p:nvSpPr>
        <p:spPr>
          <a:xfrm>
            <a:off x="365760" y="1607058"/>
            <a:ext cx="5486400" cy="841248"/>
          </a:xfrm>
          <a:prstGeom prst="rect">
            <a:avLst/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>
            <a:noAutofit/>
          </a:bodyPr>
          <a:lstStyle/>
          <a:p>
            <a:pPr algn="l"/>
            <a:r>
              <a:rPr sz="1400" b="1" i="0" u="none">
                <a:solidFill>
                  <a:srgbClr val="C55A11"/>
                </a:solidFill>
                <a:latin typeface="Arial"/>
                <a:ea typeface="Arial"/>
                <a:cs typeface="Arial"/>
              </a:rPr>
              <a:t>Why it is needed: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in the Ministry of Coal Star Rating for 2022-23, 380 mines rated themselves. Only the top 10% got a site visit; the rest were reviewed online.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2649474"/>
            <a:ext cx="5486400" cy="2747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Detailed explanation of the proposed solution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65760" y="2942463"/>
            <a:ext cx="5486400" cy="675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Aft>
                <a:spcPts val="8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One web app for office and phone; works offline underground</a:t>
            </a:r>
          </a:p>
          <a:p>
            <a:pPr marL="219456" indent="-219456" algn="l">
              <a:spcAft>
                <a:spcPts val="8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 dirty="0">
                <a:solidFill>
                  <a:srgbClr val="1A1F2B"/>
                </a:solidFill>
                <a:latin typeface="Arial"/>
                <a:ea typeface="Arial"/>
                <a:cs typeface="Arial"/>
              </a:rPr>
              <a:t>Staff log inspections and fixes at QR plates with photo proof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365760" y="3800983"/>
            <a:ext cx="5486400" cy="2747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65760" y="4093972"/>
            <a:ext cx="5486400" cy="675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Aft>
                <a:spcPts val="8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Declared figures are checked against Sentinel-2, CPCB, CLIP</a:t>
            </a:r>
          </a:p>
          <a:p>
            <a:pPr marL="219456" indent="-219456" algn="l">
              <a:spcAft>
                <a:spcPts val="8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A mismatch becomes an action with an owner and a due date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65760" y="4952492"/>
            <a:ext cx="5486400" cy="2747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Innovation and uniqueness of the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65760" y="5245481"/>
            <a:ext cx="5486400" cy="675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Aft>
                <a:spcPts val="8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Every mine gets two scores: Declared and Verified</a:t>
            </a:r>
          </a:p>
          <a:p>
            <a:pPr marL="219456" indent="-219456" algn="l">
              <a:spcAft>
                <a:spcPts val="8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DGMS and CCO inspection lists are ordered by the gap</a:t>
            </a:r>
          </a:p>
        </p:txBody>
      </p:sp>
      <p:pic>
        <p:nvPicPr>
          <p:cNvPr id="15370" name="Angaar: mine dashboard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645920"/>
            <a:ext cx="5120640" cy="3280410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15371" name="Phone frame"/>
          <p:cNvSpPr/>
          <p:nvPr/>
        </p:nvSpPr>
        <p:spPr>
          <a:xfrm>
            <a:off x="6053328" y="3334793"/>
            <a:ext cx="1426464" cy="2937990"/>
          </a:xfrm>
          <a:prstGeom prst="roundRect">
            <a:avLst>
              <a:gd name="adj" fmla="val 9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5372" name="Angaar: phone pre-shift check" descr="phone_presh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3398801"/>
            <a:ext cx="1298448" cy="2809975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7644383" y="5017770"/>
            <a:ext cx="4197096" cy="125501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Angaar web and field app. </a:t>
            </a:r>
            <a:r>
              <a:rPr sz="1400" b="0" i="0" u="none">
                <a:solidFill>
                  <a:srgbClr val="5B6472"/>
                </a:solidFill>
                <a:latin typeface="Arial"/>
                <a:ea typeface="Arial"/>
                <a:cs typeface="Arial"/>
              </a:rPr>
              <a:t>Grey bar: what the mine declared. Blue bar: what outside records confirm. Phone: a Sirdar's pre-shift check with no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Computer Smashers  |  SIH26024  |  Angaar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Computer</a:t>
            </a:r>
            <a:endParaRPr lang="en-IN" dirty="0"/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Smashers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75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sng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Technologies used</a:t>
            </a:r>
            <a:r>
              <a:rPr lang="en-IN" sz="1600" b="1" u="sng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:</a:t>
            </a:r>
            <a:endParaRPr sz="1600" b="1" i="0" u="sng" dirty="0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65760" y="1499616"/>
          <a:ext cx="11475720" cy="23042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use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 built it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Web and phone app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Next.js 15 PWA, Workbox offline cache, IndexedDB queue, QR scanner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</a:rPr>
                        <a:t>Our code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Server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FastAPI (Python 3.12), Celery and Redis for nightly checks and deadlines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</a:rPr>
                        <a:t>Our code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PostgreSQL 16 with PostGIS and TimescaleDB, MinIO for photos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Open source, self-hosted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Checks and models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NDVI with rasterio, Isolation Forest, LightGBM with SHAP, TF-IDF classifier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</a:rPr>
                        <a:t>Our code, our trained models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Outside models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Sentinel-2 images, Bhashini speech-to-text, Tesseract OCR, Llama 3.1 8B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C55A11"/>
                          </a:solidFill>
                          <a:latin typeface="Arial"/>
                          <a:ea typeface="Arial"/>
                          <a:cs typeface="Arial"/>
                        </a:rPr>
                        <a:t>External (Llama on our server)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Security and audit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Role-based login, SHA-256 hash-chained audit log, encrypted storage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</a:rPr>
                        <a:t>Our code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365760" y="3950208"/>
            <a:ext cx="11475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sng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Methodology and process for implementation</a:t>
            </a:r>
            <a:r>
              <a:rPr lang="en-IN" sz="1600" b="1" i="0" u="sng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:</a:t>
            </a:r>
            <a:endParaRPr sz="1600" b="1" i="0" u="sng" dirty="0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13" name="Rectangle 17412"/>
          <p:cNvSpPr/>
          <p:nvPr/>
        </p:nvSpPr>
        <p:spPr>
          <a:xfrm>
            <a:off x="365760" y="4352544"/>
            <a:ext cx="2020824" cy="151790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1. Capture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Field app, offline: QR plate, photo, Hindi voice note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2450591" y="4992624"/>
            <a:ext cx="214884" cy="237744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2729484" y="4352544"/>
            <a:ext cx="2020824" cy="151790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2. Collect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CLIP wages, despatch, Sentinel-2, CPCB air data, DGMS orders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4814316" y="4992624"/>
            <a:ext cx="214884" cy="237744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5093208" y="4352544"/>
            <a:ext cx="2020824" cy="1517903"/>
          </a:xfrm>
          <a:prstGeom prst="rect">
            <a:avLst/>
          </a:prstGeom>
          <a:solidFill>
            <a:srgbClr val="FBEFE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1" i="0" u="none">
                <a:solidFill>
                  <a:srgbClr val="C55A11"/>
                </a:solidFill>
                <a:latin typeface="Arial"/>
                <a:ea typeface="Arial"/>
                <a:cs typeface="Arial"/>
              </a:rPr>
              <a:t>3. Cross-check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Declared figure vs outside record: Verified, Mismatch or Waiting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7178040" y="4992624"/>
            <a:ext cx="214884" cy="237744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7456932" y="4352544"/>
            <a:ext cx="2020824" cy="151790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4. Act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Owner, due date, escalation to Area GM; closes only with proof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9541764" y="4992624"/>
            <a:ext cx="214884" cy="237744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ectangle 17420"/>
          <p:cNvSpPr/>
          <p:nvPr/>
        </p:nvSpPr>
        <p:spPr>
          <a:xfrm>
            <a:off x="9820656" y="4352544"/>
            <a:ext cx="2020824" cy="1517903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5. Report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Dashboards from mine to Ministry; Star Rating and PARIVESH drafts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65760" y="5961888"/>
            <a:ext cx="11475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u="none">
                <a:solidFill>
                  <a:srgbClr val="C55A11"/>
                </a:solidFill>
                <a:latin typeface="Arial"/>
                <a:ea typeface="Arial"/>
                <a:cs typeface="Arial"/>
              </a:rPr>
              <a:t>Human control: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the software only flags a mismatch and Llama only drafts reports; an officer closes every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Computer Smashers  |  SIH26024  |  Angaar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Computer</a:t>
            </a:r>
            <a:endParaRPr lang="en-IN" dirty="0"/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Smashers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Angaar: satellite check" descr="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70432"/>
            <a:ext cx="5687568" cy="3643598"/>
          </a:xfrm>
          <a:prstGeom prst="rect">
            <a:avLst/>
          </a:prstGeom>
          <a:ln w="9525">
            <a:solidFill>
              <a:srgbClr val="D5DAE1"/>
            </a:solidFill>
          </a:ln>
        </p:spPr>
      </p:pic>
      <p:sp>
        <p:nvSpPr>
          <p:cNvPr id="17411" name="TextBox 17410"/>
          <p:cNvSpPr txBox="1"/>
          <p:nvPr/>
        </p:nvSpPr>
        <p:spPr>
          <a:xfrm>
            <a:off x="365760" y="4878038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Real satellite data: </a:t>
            </a:r>
            <a:r>
              <a:rPr sz="1400" b="0" i="0" u="none">
                <a:solidFill>
                  <a:srgbClr val="5B6472"/>
                </a:solidFill>
                <a:latin typeface="Arial"/>
                <a:ea typeface="Arial"/>
                <a:cs typeface="Arial"/>
              </a:rPr>
              <a:t>Sentinel-2, 2 Mar 2026, Jharia: only 0.3 ha of a 39.3 ha dump is green.</a:t>
            </a:r>
          </a:p>
        </p:txBody>
      </p:sp>
      <p:sp>
        <p:nvSpPr>
          <p:cNvPr id="17412" name="Pentagon 17411"/>
          <p:cNvSpPr/>
          <p:nvPr/>
        </p:nvSpPr>
        <p:spPr>
          <a:xfrm>
            <a:off x="365760" y="5408390"/>
            <a:ext cx="1533906" cy="864394"/>
          </a:xfrm>
          <a:prstGeom prst="homePlate">
            <a:avLst>
              <a:gd name="adj" fmla="val 16000"/>
            </a:avLst>
          </a:prstGeom>
          <a:solidFill>
            <a:srgbClr val="1F49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Months 0-3</a:t>
            </a:r>
          </a:p>
          <a:p>
            <a:pPr algn="ctr"/>
            <a:r>
              <a:rPr sz="14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 pilot mines</a:t>
            </a:r>
          </a:p>
        </p:txBody>
      </p:sp>
      <p:sp>
        <p:nvSpPr>
          <p:cNvPr id="17413" name="Chevron 17412"/>
          <p:cNvSpPr/>
          <p:nvPr/>
        </p:nvSpPr>
        <p:spPr>
          <a:xfrm>
            <a:off x="1789938" y="5408390"/>
            <a:ext cx="1533906" cy="864394"/>
          </a:xfrm>
          <a:prstGeom prst="chevron">
            <a:avLst>
              <a:gd name="adj" fmla="val 16000"/>
            </a:avLst>
          </a:prstGeom>
          <a:solidFill>
            <a:srgbClr val="EAF0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Month 6</a:t>
            </a:r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1 subsidiary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3214116" y="5408390"/>
            <a:ext cx="1533906" cy="864394"/>
          </a:xfrm>
          <a:prstGeom prst="chevron">
            <a:avLst>
              <a:gd name="adj" fmla="val 16000"/>
            </a:avLst>
          </a:prstGeom>
          <a:solidFill>
            <a:srgbClr val="EAF0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Month 18</a:t>
            </a:r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322 CIL mines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4638294" y="5408390"/>
            <a:ext cx="1533906" cy="864394"/>
          </a:xfrm>
          <a:prstGeom prst="chevron">
            <a:avLst>
              <a:gd name="adj" fmla="val 16000"/>
            </a:avLst>
          </a:prstGeom>
          <a:solidFill>
            <a:srgbClr val="EAF0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Year 3</a:t>
            </a:r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all 380 mines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55080" y="1115568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sng">
                <a:solidFill>
                  <a:srgbClr val="1F497D"/>
                </a:solidFill>
                <a:latin typeface="Arial"/>
                <a:ea typeface="Arial"/>
                <a:cs typeface="Arial"/>
              </a:rPr>
              <a:t>Analysis of the feasibility of the idea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55080" y="1481328"/>
            <a:ext cx="54864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Aft>
                <a:spcPts val="4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Technical: the satellite check already runs on free data</a:t>
            </a:r>
          </a:p>
          <a:p>
            <a:pPr marL="219456" indent="-219456" algn="l">
              <a:spcAft>
                <a:spcPts val="4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Economic: open source, no licence fees, NIC MeghRaj hosting</a:t>
            </a:r>
          </a:p>
          <a:p>
            <a:pPr marL="219456" indent="-219456" algn="l">
              <a:spcAft>
                <a:spcPts val="4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Operational: pilot at 5 mines of one BCCL area in 3 months</a:t>
            </a:r>
          </a:p>
        </p:txBody>
      </p:sp>
      <p:graphicFrame>
        <p:nvGraphicFramePr>
          <p:cNvPr id="17418" name="Table 17417"/>
          <p:cNvGraphicFramePr>
            <a:graphicFrameLocks noGrp="1"/>
          </p:cNvGraphicFramePr>
          <p:nvPr/>
        </p:nvGraphicFramePr>
        <p:xfrm>
          <a:off x="6355080" y="2410968"/>
          <a:ext cx="5486400" cy="38069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Potential challenges and risks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Strategies for overcoming these challenges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7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C55A11"/>
                          </a:solidFill>
                          <a:latin typeface="Arial"/>
                          <a:ea typeface="Arial"/>
                          <a:cs typeface="Arial"/>
                        </a:rPr>
                        <a:t>Data access: </a:t>
                      </a:r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CLIP, attendance and despatch data need CIL approval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Start on public data (Sentinel-2, CPCB, DGMS, Coal Directory) and CSV files from the pilot area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007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C55A11"/>
                          </a:solidFill>
                          <a:latin typeface="Arial"/>
                          <a:ea typeface="Arial"/>
                          <a:cs typeface="Arial"/>
                        </a:rPr>
                        <a:t>Wrong results or downtime: </a:t>
                      </a:r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clouds, monsoon, sensor gaps, no network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Cloud mask and dry-season images; a mismatch opens a review, never a penalty; app works offline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7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C55A11"/>
                          </a:solidFill>
                          <a:latin typeface="Arial"/>
                          <a:ea typeface="Arial"/>
                          <a:cs typeface="Arial"/>
                        </a:rPr>
                        <a:t>Adoption: </a:t>
                      </a:r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Sirdars and Overmen are short of time and fear blame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A1F2B"/>
                          </a:solidFill>
                          <a:latin typeface="Arial"/>
                          <a:ea typeface="Arial"/>
                          <a:cs typeface="Arial"/>
                        </a:rPr>
                        <a:t>Hindi voice, 3-tap forms, QR plates; results go to managers, not to the person who reported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Computer Smashers  |  SIH26024  |  Angaar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Computer</a:t>
            </a:r>
            <a:endParaRPr lang="en-IN" dirty="0"/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Smashers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Estimate panel"/>
          <p:cNvSpPr/>
          <p:nvPr/>
        </p:nvSpPr>
        <p:spPr>
          <a:xfrm>
            <a:off x="365760" y="1170432"/>
            <a:ext cx="5532120" cy="51023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48640" y="1280160"/>
            <a:ext cx="5166359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Estimate: mine-checks per year</a:t>
            </a:r>
          </a:p>
          <a:p>
            <a:pPr algn="l"/>
            <a:r>
              <a:rPr sz="1400" b="0" i="0" u="none">
                <a:solidFill>
                  <a:srgbClr val="5B6472"/>
                </a:solidFill>
                <a:latin typeface="Arial"/>
                <a:ea typeface="Arial"/>
                <a:cs typeface="Arial"/>
              </a:rPr>
              <a:t>Our calculation from public figures, not official</a:t>
            </a:r>
          </a:p>
        </p:txBody>
      </p:sp>
      <p:graphicFrame>
        <p:nvGraphicFramePr>
          <p:cNvPr id="17412" name="Chart 17411"/>
          <p:cNvGraphicFramePr>
            <a:graphicFrameLocks noGrp="1"/>
          </p:cNvGraphicFramePr>
          <p:nvPr/>
        </p:nvGraphicFramePr>
        <p:xfrm>
          <a:off x="548640" y="1883664"/>
          <a:ext cx="5166359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548640" y="4535424"/>
            <a:ext cx="516635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How we got the number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4846320"/>
            <a:ext cx="5166359" cy="1153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Aft>
                <a:spcPts val="5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380 mines rated in 2022-23; top 10%, about 38, got a visit</a:t>
            </a:r>
          </a:p>
          <a:p>
            <a:pPr marL="219456" indent="-219456" algn="l">
              <a:spcAft>
                <a:spcPts val="5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9 of the 50 opencast items have an outside record (slide 6)</a:t>
            </a:r>
          </a:p>
          <a:p>
            <a:pPr marL="219456" indent="-219456" algn="l">
              <a:spcAft>
                <a:spcPts val="5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380 mines × 12 months = 4,560 mine-checks a year</a:t>
            </a:r>
          </a:p>
          <a:p>
            <a:pPr marL="219456" indent="-219456" algn="l">
              <a:spcAft>
                <a:spcPts val="5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Site visits still check all 50 items, starting at the widest gap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172200" y="1115568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sng">
                <a:solidFill>
                  <a:srgbClr val="1F497D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172200" y="1481328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Aft>
                <a:spcPts val="6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Sirdar and Overman: Hindi forms that work without network</a:t>
            </a:r>
          </a:p>
          <a:p>
            <a:pPr marL="219456" indent="-219456" algn="l">
              <a:spcAft>
                <a:spcPts val="6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Contract workers: paid days matched with days at work</a:t>
            </a:r>
          </a:p>
          <a:p>
            <a:pPr marL="219456" indent="-219456" algn="l">
              <a:spcAft>
                <a:spcPts val="6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DGMS, CCO and CIL: visit first where the gap is widest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172200" y="2505456"/>
            <a:ext cx="5669280" cy="6035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sng">
                <a:solidFill>
                  <a:srgbClr val="1F497D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172200" y="3145536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spcAft>
                <a:spcPts val="6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Social: a hazard closes only with photo proof at the spot</a:t>
            </a:r>
          </a:p>
          <a:p>
            <a:pPr marL="219456" indent="-219456" algn="l">
              <a:spcAft>
                <a:spcPts val="6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Economic: data entered once and reused for every return</a:t>
            </a:r>
          </a:p>
          <a:p>
            <a:pPr marL="219456" indent="-219456" algn="l">
              <a:spcAft>
                <a:spcPts val="600"/>
              </a:spcAft>
              <a:buClr>
                <a:srgbClr val="1F497D"/>
              </a:buClr>
              <a:buFont typeface="Arial"/>
              <a:buChar char="•"/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Environmental: reclamation and dust checked every month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172200" y="4187952"/>
            <a:ext cx="1780032" cy="1024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Star Rating mines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in 2022-23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061960" y="4187952"/>
            <a:ext cx="1780032" cy="1024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322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Coal India mines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on 1 April 2023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7988808" y="4297680"/>
            <a:ext cx="0" cy="804672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9951720" y="4187952"/>
            <a:ext cx="1780032" cy="1024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1,047.5 Mt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India's coal output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in FY 2024-25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9878568" y="4297680"/>
            <a:ext cx="0" cy="804672"/>
          </a:xfrm>
          <a:prstGeom prst="line">
            <a:avLst/>
          </a:prstGeom>
          <a:ln w="12700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Beyond India note"/>
          <p:cNvSpPr/>
          <p:nvPr/>
        </p:nvSpPr>
        <p:spPr>
          <a:xfrm>
            <a:off x="6172200" y="5340096"/>
            <a:ext cx="5669280" cy="932688"/>
          </a:xfrm>
          <a:prstGeom prst="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>
            <a:noAutofit/>
          </a:bodyPr>
          <a:lstStyle/>
          <a:p>
            <a:pPr algn="l"/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Beyond India: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Sentinel-2 images are free for every country and our rules are stored as data. A coal mine in Indonesia, South Africa or Australia needs a new rule pack, not new code.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Computer Smashers  |  SIH26024  |  Angaar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Computer</a:t>
            </a:r>
            <a:endParaRPr lang="en-IN" dirty="0"/>
          </a:p>
          <a:p>
            <a:pPr algn="ctr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Smashers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75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 u="sng">
                <a:solidFill>
                  <a:srgbClr val="1F497D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499616"/>
            <a:ext cx="7086600" cy="3789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1.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Star Rating of Coal Mines and OC template, Ministry of Coal: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4"/>
              </a:rPr>
              <a:t>starrating.coal.gov.in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2.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Star Rating review, The Reporters' Collective, Nov 2024: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5"/>
              </a:rPr>
              <a:t>reporters-collective.in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3.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DGMS SANKET: coal mine accidents 2016-22: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6"/>
              </a:rPr>
              <a:t>dgms.net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4.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DGMS at a Glance 2023: risk-based inspection: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7"/>
              </a:rPr>
              <a:t>dgms.net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5.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Coal Directory of India 2024-25, Coal Controller: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8"/>
              </a:rPr>
              <a:t>coalcontroller.gov.in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6.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Sentinel-2 L2A images, ESA Copernicus: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9"/>
              </a:rPr>
              <a:t>earth-search.aws.element84.com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7.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CPCB CAAQMS air quality data: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10"/>
              </a:rPr>
              <a:t>airquality.cpcb.gov.in/ccr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8.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UTTAM: third-party coal quality results, CIL: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11"/>
              </a:rPr>
              <a:t>uttam.coalindia.in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9.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PARIVESH: six-monthly EC compliance: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12"/>
              </a:rPr>
              <a:t>parivesh.nic.in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10.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OSH Code 2020 in force 21 Nov 2025, PIB: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13"/>
              </a:rPr>
              <a:t>pib.gov.in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11.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CLIP contract labour portal, CIL: </a:t>
            </a:r>
            <a:r>
              <a:rPr sz="1400" b="0" i="0" u="sng">
                <a:solidFill>
                  <a:srgbClr val="1F497D"/>
                </a:solidFill>
                <a:latin typeface="Arial"/>
                <a:ea typeface="Arial"/>
                <a:cs typeface="Arial"/>
                <a:hlinkClick r:id="rId14"/>
              </a:rPr>
              <a:t>clip.cmpdi.co.in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7412" name="Data access note"/>
          <p:cNvSpPr/>
          <p:nvPr/>
        </p:nvSpPr>
        <p:spPr>
          <a:xfrm>
            <a:off x="365760" y="5559552"/>
            <a:ext cx="7086600" cy="713232"/>
          </a:xfrm>
          <a:prstGeom prst="rect">
            <a:avLst/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>
            <a:noAutofit/>
          </a:bodyPr>
          <a:lstStyle/>
          <a:p>
            <a:pPr algn="l"/>
            <a:r>
              <a:rPr sz="1400" b="1" i="0" u="none">
                <a:solidFill>
                  <a:srgbClr val="C55A11"/>
                </a:solidFill>
                <a:latin typeface="Arial"/>
                <a:ea typeface="Arial"/>
                <a:cs typeface="Arial"/>
              </a:rPr>
              <a:t>Data links: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sources 3 to 9 are public. CLIP wages, attendance and despatch (CIL) and inspection records (DGMS) connect through approved data sharing.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726679" y="1499616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Our research: Star Rating opencast template</a:t>
            </a:r>
          </a:p>
          <a:p>
            <a:pPr algn="l"/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50 items, all typed in by the mine</a:t>
            </a:r>
          </a:p>
        </p:txBody>
      </p:sp>
      <p:graphicFrame>
        <p:nvGraphicFramePr>
          <p:cNvPr id="17414" name="Chart 17413"/>
          <p:cNvGraphicFramePr>
            <a:graphicFrameLocks noGrp="1"/>
          </p:cNvGraphicFramePr>
          <p:nvPr/>
        </p:nvGraphicFramePr>
        <p:xfrm>
          <a:off x="8229600" y="2103120"/>
          <a:ext cx="3108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7415" name="TextBox 17414"/>
          <p:cNvSpPr txBox="1"/>
          <p:nvPr/>
        </p:nvSpPr>
        <p:spPr>
          <a:xfrm>
            <a:off x="9052559" y="2939796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9 of 50</a:t>
            </a:r>
          </a:p>
          <a:p>
            <a:pPr algn="ctr"/>
            <a:r>
              <a:rPr sz="1400" b="0" i="0" u="none">
                <a:solidFill>
                  <a:srgbClr val="5B6472"/>
                </a:solidFill>
                <a:latin typeface="Arial"/>
                <a:ea typeface="Arial"/>
                <a:cs typeface="Arial"/>
              </a:rPr>
              <a:t>checkable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726679" y="4507992"/>
            <a:ext cx="41148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■ </a:t>
            </a:r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9 items: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air quality, EC report date, reclamation, despatch, coal grade, and 4 DGMS items</a:t>
            </a:r>
          </a:p>
          <a:p>
            <a:pPr algn="l"/>
            <a:r>
              <a:rPr sz="1400" b="0" i="0" u="none">
                <a:solidFill>
                  <a:srgbClr val="B8C0CA"/>
                </a:solidFill>
                <a:latin typeface="Arial"/>
                <a:ea typeface="Arial"/>
                <a:cs typeface="Arial"/>
              </a:rPr>
              <a:t>■ </a:t>
            </a:r>
            <a:r>
              <a:rPr sz="1400" b="1" i="0" u="none">
                <a:solidFill>
                  <a:srgbClr val="5B6472"/>
                </a:solidFill>
                <a:latin typeface="Arial"/>
                <a:ea typeface="Arial"/>
                <a:cs typeface="Arial"/>
              </a:rPr>
              <a:t>41 items: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typed in only by the mine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726679" y="548640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400" b="1" i="0" u="none">
                <a:solidFill>
                  <a:srgbClr val="1F497D"/>
                </a:solidFill>
                <a:latin typeface="Arial"/>
                <a:ea typeface="Arial"/>
                <a:cs typeface="Arial"/>
              </a:rPr>
              <a:t>Live check: </a:t>
            </a:r>
            <a:r>
              <a:rPr sz="1400" b="0" i="0" u="none">
                <a:solidFill>
                  <a:srgbClr val="1A1F2B"/>
                </a:solidFill>
                <a:latin typeface="Arial"/>
                <a:ea typeface="Arial"/>
                <a:cs typeface="Arial"/>
              </a:rPr>
              <a:t>Sentinel-2 separates bare dumps from vegetation in Jharia (slide 4).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497D"/>
      </a:hlink>
      <a:folHlink>
        <a:srgbClr val="1F49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1183</Words>
  <Application>Microsoft Office PowerPoint</Application>
  <PresentationFormat>Widescreen</PresentationFormat>
  <Paragraphs>152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Nirmala UI</vt:lpstr>
      <vt:lpstr>Times New Roman</vt:lpstr>
      <vt:lpstr>TradeGothic</vt:lpstr>
      <vt:lpstr>Office Theme</vt:lpstr>
      <vt:lpstr>SMART INDIA HACKATHON 2026</vt:lpstr>
      <vt:lpstr>Angaar (अंगार) Coal mine compliance, checked against records the mine does not write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Rakshit Gajera</cp:lastModifiedBy>
  <cp:revision>148</cp:revision>
  <dcterms:created xsi:type="dcterms:W3CDTF">2013-12-12T18:46:50Z</dcterms:created>
  <dcterms:modified xsi:type="dcterms:W3CDTF">2026-09-29T17:52:38Z</dcterms:modified>
  <cp:category/>
</cp:coreProperties>
</file>